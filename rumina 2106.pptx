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-178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E98-9005-4FBA-8EEF-3B5231F0C086}" type="datetimeFigureOut">
              <a:rPr lang="en-SG" smtClean="0"/>
              <a:t>18/1/2025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61DE-2AC3-4E0A-91AB-AF360DDA03A2}" type="slidenum">
              <a:rPr lang="en-SG" smtClean="0"/>
              <a:t>‹#›</a:t>
            </a:fld>
            <a:endParaRPr lang="en-SG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752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E98-9005-4FBA-8EEF-3B5231F0C086}" type="datetimeFigureOut">
              <a:rPr lang="en-SG" smtClean="0"/>
              <a:t>18/1/2025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61DE-2AC3-4E0A-91AB-AF360DDA03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17164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E98-9005-4FBA-8EEF-3B5231F0C086}" type="datetimeFigureOut">
              <a:rPr lang="en-SG" smtClean="0"/>
              <a:t>18/1/2025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61DE-2AC3-4E0A-91AB-AF360DDA03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142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E98-9005-4FBA-8EEF-3B5231F0C086}" type="datetimeFigureOut">
              <a:rPr lang="en-SG" smtClean="0"/>
              <a:t>18/1/2025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61DE-2AC3-4E0A-91AB-AF360DDA03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56449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E98-9005-4FBA-8EEF-3B5231F0C086}" type="datetimeFigureOut">
              <a:rPr lang="en-SG" smtClean="0"/>
              <a:t>18/1/2025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61DE-2AC3-4E0A-91AB-AF360DDA03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167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E98-9005-4FBA-8EEF-3B5231F0C086}" type="datetimeFigureOut">
              <a:rPr lang="en-SG" smtClean="0"/>
              <a:t>18/1/2025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61DE-2AC3-4E0A-91AB-AF360DDA03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96067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E98-9005-4FBA-8EEF-3B5231F0C086}" type="datetimeFigureOut">
              <a:rPr lang="en-SG" smtClean="0"/>
              <a:t>18/1/2025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61DE-2AC3-4E0A-91AB-AF360DDA03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17423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E98-9005-4FBA-8EEF-3B5231F0C086}" type="datetimeFigureOut">
              <a:rPr lang="en-SG" smtClean="0"/>
              <a:t>18/1/2025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61DE-2AC3-4E0A-91AB-AF360DDA03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11396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E98-9005-4FBA-8EEF-3B5231F0C086}" type="datetimeFigureOut">
              <a:rPr lang="en-SG" smtClean="0"/>
              <a:t>18/1/2025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61DE-2AC3-4E0A-91AB-AF360DDA03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6365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E98-9005-4FBA-8EEF-3B5231F0C086}" type="datetimeFigureOut">
              <a:rPr lang="en-SG" smtClean="0"/>
              <a:t>18/1/2025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61DE-2AC3-4E0A-91AB-AF360DDA03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34433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E98-9005-4FBA-8EEF-3B5231F0C086}" type="datetimeFigureOut">
              <a:rPr lang="en-SG" smtClean="0"/>
              <a:t>18/1/2025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61DE-2AC3-4E0A-91AB-AF360DDA03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10614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E98-9005-4FBA-8EEF-3B5231F0C086}" type="datetimeFigureOut">
              <a:rPr lang="en-SG" smtClean="0"/>
              <a:t>18/1/2025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61DE-2AC3-4E0A-91AB-AF360DDA03A2}" type="slidenum">
              <a:rPr lang="en-SG" smtClean="0"/>
              <a:t>‹#›</a:t>
            </a:fld>
            <a:endParaRPr lang="en-SG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9958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E98-9005-4FBA-8EEF-3B5231F0C086}" type="datetimeFigureOut">
              <a:rPr lang="en-SG" smtClean="0"/>
              <a:t>18/1/2025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61DE-2AC3-4E0A-91AB-AF360DDA03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16772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E98-9005-4FBA-8EEF-3B5231F0C086}" type="datetimeFigureOut">
              <a:rPr lang="en-SG" smtClean="0"/>
              <a:t>18/1/2025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61DE-2AC3-4E0A-91AB-AF360DDA03A2}" type="slidenum">
              <a:rPr lang="en-SG" smtClean="0"/>
              <a:t>‹#›</a:t>
            </a:fld>
            <a:endParaRPr lang="en-SG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4042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E98-9005-4FBA-8EEF-3B5231F0C086}" type="datetimeFigureOut">
              <a:rPr lang="en-SG" smtClean="0"/>
              <a:t>18/1/2025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61DE-2AC3-4E0A-91AB-AF360DDA03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4525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E98-9005-4FBA-8EEF-3B5231F0C086}" type="datetimeFigureOut">
              <a:rPr lang="en-SG" smtClean="0"/>
              <a:t>18/1/2025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61DE-2AC3-4E0A-91AB-AF360DDA03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281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E98-9005-4FBA-8EEF-3B5231F0C086}" type="datetimeFigureOut">
              <a:rPr lang="en-SG" smtClean="0"/>
              <a:t>18/1/2025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61DE-2AC3-4E0A-91AB-AF360DDA03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1849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A682E98-9005-4FBA-8EEF-3B5231F0C086}" type="datetimeFigureOut">
              <a:rPr lang="en-SG" smtClean="0"/>
              <a:t>18/1/2025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D1061DE-2AC3-4E0A-91AB-AF360DDA03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935792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6CCD038-7417-D433-D7D1-4369BD5FD1B9}"/>
              </a:ext>
            </a:extLst>
          </p:cNvPr>
          <p:cNvSpPr txBox="1"/>
          <p:nvPr/>
        </p:nvSpPr>
        <p:spPr>
          <a:xfrm>
            <a:off x="2422689" y="584462"/>
            <a:ext cx="64762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</a:p>
        </p:txBody>
      </p:sp>
    </p:spTree>
    <p:extLst>
      <p:ext uri="{BB962C8B-B14F-4D97-AF65-F5344CB8AC3E}">
        <p14:creationId xmlns:p14="http://schemas.microsoft.com/office/powerpoint/2010/main" val="158421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B1A3286-118A-EF61-9204-296B676A50B5}"/>
              </a:ext>
            </a:extLst>
          </p:cNvPr>
          <p:cNvSpPr txBox="1"/>
          <p:nvPr/>
        </p:nvSpPr>
        <p:spPr>
          <a:xfrm>
            <a:off x="1027522" y="4383464"/>
            <a:ext cx="6278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9CFD83D-6ED1-AAEA-81E5-C284EC00BECC}"/>
              </a:ext>
            </a:extLst>
          </p:cNvPr>
          <p:cNvSpPr txBox="1"/>
          <p:nvPr/>
        </p:nvSpPr>
        <p:spPr>
          <a:xfrm>
            <a:off x="3513221" y="5188712"/>
            <a:ext cx="36736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Presented by</a:t>
            </a:r>
          </a:p>
          <a:p>
            <a:r>
              <a:rPr lang="en-SG" dirty="0"/>
              <a:t>Rumina khatun</a:t>
            </a:r>
          </a:p>
          <a:p>
            <a:r>
              <a:rPr lang="en-SG" dirty="0" smtClean="0"/>
              <a:t>B20_S25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4361706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136246B-1908-33F0-B369-1EDE7DD07FFE}"/>
              </a:ext>
            </a:extLst>
          </p:cNvPr>
          <p:cNvSpPr txBox="1"/>
          <p:nvPr/>
        </p:nvSpPr>
        <p:spPr>
          <a:xfrm>
            <a:off x="923827" y="443059"/>
            <a:ext cx="821074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SG" sz="36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SG" sz="36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DBMS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SG" sz="36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 of DBMS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SG" sz="36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database management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SG" sz="36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DBMS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SG" sz="36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keys of DBMS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SG" sz="36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DBMS language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SG" sz="36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DBMS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SG" sz="36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 of DBMS</a:t>
            </a:r>
          </a:p>
        </p:txBody>
      </p:sp>
    </p:spTree>
    <p:extLst>
      <p:ext uri="{BB962C8B-B14F-4D97-AF65-F5344CB8AC3E}">
        <p14:creationId xmlns:p14="http://schemas.microsoft.com/office/powerpoint/2010/main" val="131421245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825F80E-BAE6-6A2E-6A22-4062B396A830}"/>
              </a:ext>
            </a:extLst>
          </p:cNvPr>
          <p:cNvSpPr txBox="1"/>
          <p:nvPr/>
        </p:nvSpPr>
        <p:spPr>
          <a:xfrm>
            <a:off x="895546" y="537328"/>
            <a:ext cx="10812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DBMS: computer software designed to manage database based on variety of models.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7B77B93-43FC-1B87-8B54-F5D0FC51070E}"/>
              </a:ext>
            </a:extLst>
          </p:cNvPr>
          <p:cNvSpPr txBox="1"/>
          <p:nvPr/>
        </p:nvSpPr>
        <p:spPr>
          <a:xfrm rot="10800000" flipV="1">
            <a:off x="2196445" y="1965835"/>
            <a:ext cx="7136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DBMS FUNCTION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16FDDBD2-3F8C-5C5E-99F1-24BDBF93C2EB}"/>
              </a:ext>
            </a:extLst>
          </p:cNvPr>
          <p:cNvCxnSpPr>
            <a:cxnSpLocks/>
          </p:cNvCxnSpPr>
          <p:nvPr/>
        </p:nvCxnSpPr>
        <p:spPr>
          <a:xfrm>
            <a:off x="6693031" y="2331794"/>
            <a:ext cx="480767" cy="788478"/>
          </a:xfrm>
          <a:prstGeom prst="straightConnector1">
            <a:avLst/>
          </a:prstGeom>
          <a:ln>
            <a:solidFill>
              <a:schemeClr val="tx1">
                <a:lumMod val="95000"/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14701F42-0EE8-0B90-D74A-804BF6A5DCC1}"/>
              </a:ext>
            </a:extLst>
          </p:cNvPr>
          <p:cNvCxnSpPr/>
          <p:nvPr/>
        </p:nvCxnSpPr>
        <p:spPr>
          <a:xfrm>
            <a:off x="5637229" y="2331794"/>
            <a:ext cx="0" cy="863893"/>
          </a:xfrm>
          <a:prstGeom prst="straightConnector1">
            <a:avLst/>
          </a:prstGeom>
          <a:ln>
            <a:solidFill>
              <a:schemeClr val="tx1">
                <a:lumMod val="95000"/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100AFE8A-E4E1-5336-464F-2291D2E5D0EC}"/>
              </a:ext>
            </a:extLst>
          </p:cNvPr>
          <p:cNvCxnSpPr/>
          <p:nvPr/>
        </p:nvCxnSpPr>
        <p:spPr>
          <a:xfrm flipH="1">
            <a:off x="4218495" y="2331794"/>
            <a:ext cx="593889" cy="788478"/>
          </a:xfrm>
          <a:prstGeom prst="straightConnector1">
            <a:avLst/>
          </a:prstGeom>
          <a:ln>
            <a:solidFill>
              <a:schemeClr val="tx1">
                <a:lumMod val="95000"/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5F4CB697-99C9-9618-D1F6-549251C3A7FE}"/>
              </a:ext>
            </a:extLst>
          </p:cNvPr>
          <p:cNvSpPr txBox="1"/>
          <p:nvPr/>
        </p:nvSpPr>
        <p:spPr>
          <a:xfrm>
            <a:off x="4901942" y="3328353"/>
            <a:ext cx="1470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Updates data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E88EC163-B9D1-5B91-7407-6F1342E20DE9}"/>
              </a:ext>
            </a:extLst>
          </p:cNvPr>
          <p:cNvSpPr txBox="1"/>
          <p:nvPr/>
        </p:nvSpPr>
        <p:spPr>
          <a:xfrm>
            <a:off x="3648176" y="3335350"/>
            <a:ext cx="1055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Stores 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3B42978-7E2E-E57E-0D86-A0D0AF9638DF}"/>
              </a:ext>
            </a:extLst>
          </p:cNvPr>
          <p:cNvSpPr txBox="1"/>
          <p:nvPr/>
        </p:nvSpPr>
        <p:spPr>
          <a:xfrm>
            <a:off x="6768445" y="3344085"/>
            <a:ext cx="1112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Retries 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07C6155E-777F-2138-0E46-EBAB69A9DCEC}"/>
              </a:ext>
            </a:extLst>
          </p:cNvPr>
          <p:cNvSpPr txBox="1"/>
          <p:nvPr/>
        </p:nvSpPr>
        <p:spPr>
          <a:xfrm>
            <a:off x="650449" y="4779390"/>
            <a:ext cx="8248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 err="1"/>
              <a:t>Summury</a:t>
            </a:r>
            <a:r>
              <a:rPr lang="en-SG" dirty="0"/>
              <a:t> :DBMS is designed to store and manage database.</a:t>
            </a:r>
          </a:p>
        </p:txBody>
      </p:sp>
    </p:spTree>
    <p:extLst>
      <p:ext uri="{BB962C8B-B14F-4D97-AF65-F5344CB8AC3E}">
        <p14:creationId xmlns:p14="http://schemas.microsoft.com/office/powerpoint/2010/main" val="3850684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C1B730A-CEE3-F1D2-BE5E-47287C8D51E2}"/>
              </a:ext>
            </a:extLst>
          </p:cNvPr>
          <p:cNvSpPr txBox="1"/>
          <p:nvPr/>
        </p:nvSpPr>
        <p:spPr>
          <a:xfrm>
            <a:off x="3817856" y="386499"/>
            <a:ext cx="4053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DBMS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3FA7A03-FB6E-6919-4823-6597A067E049}"/>
              </a:ext>
            </a:extLst>
          </p:cNvPr>
          <p:cNvSpPr txBox="1"/>
          <p:nvPr/>
        </p:nvSpPr>
        <p:spPr>
          <a:xfrm>
            <a:off x="452487" y="931567"/>
            <a:ext cx="902145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1960: First DBMS designed by </a:t>
            </a:r>
            <a:r>
              <a:rPr lang="en-S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claries</a:t>
            </a: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backman</a:t>
            </a: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GE integrated data sources (IBS).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1970: </a:t>
            </a:r>
            <a:r>
              <a:rPr lang="en-S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codd</a:t>
            </a: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introduced IMS, IBMS information management system (IMS).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1980: relational model become popular and accepted as the main database paradigm SQL, ANSI , SQL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1980 to 1990 : new data models , power query language, etc popular </a:t>
            </a:r>
            <a:r>
              <a:rPr lang="en-S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verdors</a:t>
            </a: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oracle, SQL server, IBMS DB2, Informix etc. </a:t>
            </a:r>
          </a:p>
        </p:txBody>
      </p:sp>
    </p:spTree>
    <p:extLst>
      <p:ext uri="{BB962C8B-B14F-4D97-AF65-F5344CB8AC3E}">
        <p14:creationId xmlns:p14="http://schemas.microsoft.com/office/powerpoint/2010/main" val="21529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B56D5366-C757-BECB-21BB-BE364BBCDEE7}"/>
              </a:ext>
            </a:extLst>
          </p:cNvPr>
          <p:cNvSpPr/>
          <p:nvPr/>
        </p:nvSpPr>
        <p:spPr>
          <a:xfrm>
            <a:off x="3610466" y="160255"/>
            <a:ext cx="4515440" cy="970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3200" dirty="0"/>
              <a:t>Components of DBMS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xmlns="" id="{DA69DC0D-5F21-64CE-104B-34FCA9D765B7}"/>
              </a:ext>
            </a:extLst>
          </p:cNvPr>
          <p:cNvSpPr/>
          <p:nvPr/>
        </p:nvSpPr>
        <p:spPr>
          <a:xfrm>
            <a:off x="4539007" y="1300899"/>
            <a:ext cx="2017336" cy="6693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Procedure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1DF9CCDC-94C3-22B0-719F-6D482E8E4FCC}"/>
              </a:ext>
            </a:extLst>
          </p:cNvPr>
          <p:cNvSpPr/>
          <p:nvPr/>
        </p:nvSpPr>
        <p:spPr>
          <a:xfrm>
            <a:off x="2634792" y="2038546"/>
            <a:ext cx="1706251" cy="8389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Data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25514C11-5195-30FF-8F65-190D801AE346}"/>
              </a:ext>
            </a:extLst>
          </p:cNvPr>
          <p:cNvSpPr/>
          <p:nvPr/>
        </p:nvSpPr>
        <p:spPr>
          <a:xfrm>
            <a:off x="3648173" y="3429000"/>
            <a:ext cx="2017336" cy="6975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 err="1"/>
              <a:t>Sowftware</a:t>
            </a:r>
            <a:endParaRPr lang="en-SG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76DBEC3C-6E55-6AB4-D977-A6BB085F0C5D}"/>
              </a:ext>
            </a:extLst>
          </p:cNvPr>
          <p:cNvSpPr/>
          <p:nvPr/>
        </p:nvSpPr>
        <p:spPr>
          <a:xfrm>
            <a:off x="6249972" y="3351229"/>
            <a:ext cx="1875934" cy="6975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Hardware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F255078B-2C68-C637-9C1F-F195528AA28E}"/>
              </a:ext>
            </a:extLst>
          </p:cNvPr>
          <p:cNvSpPr/>
          <p:nvPr/>
        </p:nvSpPr>
        <p:spPr>
          <a:xfrm>
            <a:off x="6806154" y="2102177"/>
            <a:ext cx="1875933" cy="6975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User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B1278201-16EF-11F9-EE49-8B12D395955D}"/>
              </a:ext>
            </a:extLst>
          </p:cNvPr>
          <p:cNvCxnSpPr>
            <a:cxnSpLocks/>
          </p:cNvCxnSpPr>
          <p:nvPr/>
        </p:nvCxnSpPr>
        <p:spPr>
          <a:xfrm>
            <a:off x="6636470" y="1720390"/>
            <a:ext cx="622169" cy="381787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1F14259C-9A8B-C459-ECF3-FFAC474859CC}"/>
              </a:ext>
            </a:extLst>
          </p:cNvPr>
          <p:cNvCxnSpPr>
            <a:cxnSpLocks/>
          </p:cNvCxnSpPr>
          <p:nvPr/>
        </p:nvCxnSpPr>
        <p:spPr>
          <a:xfrm flipH="1">
            <a:off x="7550870" y="2912882"/>
            <a:ext cx="94268" cy="438347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13992EAF-FCD1-9009-F241-1E6692BF75EE}"/>
              </a:ext>
            </a:extLst>
          </p:cNvPr>
          <p:cNvCxnSpPr>
            <a:cxnSpLocks/>
          </p:cNvCxnSpPr>
          <p:nvPr/>
        </p:nvCxnSpPr>
        <p:spPr>
          <a:xfrm flipH="1">
            <a:off x="5722070" y="3806071"/>
            <a:ext cx="527902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221D2FE9-BC46-6E2E-54D1-A30A24E31560}"/>
              </a:ext>
            </a:extLst>
          </p:cNvPr>
          <p:cNvCxnSpPr>
            <a:cxnSpLocks/>
          </p:cNvCxnSpPr>
          <p:nvPr/>
        </p:nvCxnSpPr>
        <p:spPr>
          <a:xfrm flipH="1" flipV="1">
            <a:off x="3487918" y="2912882"/>
            <a:ext cx="339364" cy="603316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69E13B5E-317E-6FAA-B34F-C25744877611}"/>
              </a:ext>
            </a:extLst>
          </p:cNvPr>
          <p:cNvCxnSpPr/>
          <p:nvPr/>
        </p:nvCxnSpPr>
        <p:spPr>
          <a:xfrm flipV="1">
            <a:off x="3987538" y="1743959"/>
            <a:ext cx="551469" cy="358218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46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25EB9DB-2A5C-0810-F6D0-4F2ADC1F2433}"/>
              </a:ext>
            </a:extLst>
          </p:cNvPr>
          <p:cNvSpPr/>
          <p:nvPr/>
        </p:nvSpPr>
        <p:spPr>
          <a:xfrm>
            <a:off x="3525625" y="1197203"/>
            <a:ext cx="3450210" cy="509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3600" dirty="0"/>
              <a:t>Keys in DBMS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60BD0EB-121C-2AF9-CA2F-B23BCCCA7FBE}"/>
              </a:ext>
            </a:extLst>
          </p:cNvPr>
          <p:cNvSpPr/>
          <p:nvPr/>
        </p:nvSpPr>
        <p:spPr>
          <a:xfrm>
            <a:off x="1275760" y="1668543"/>
            <a:ext cx="1442302" cy="5090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Candidate keys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8AFF2F4-C643-F161-9019-6717C3B6C86E}"/>
              </a:ext>
            </a:extLst>
          </p:cNvPr>
          <p:cNvSpPr/>
          <p:nvPr/>
        </p:nvSpPr>
        <p:spPr>
          <a:xfrm>
            <a:off x="2121031" y="2705492"/>
            <a:ext cx="1800519" cy="509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Primary keys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645210F-B1A8-03A0-807E-A58EBB5DAE93}"/>
              </a:ext>
            </a:extLst>
          </p:cNvPr>
          <p:cNvSpPr/>
          <p:nvPr/>
        </p:nvSpPr>
        <p:spPr>
          <a:xfrm>
            <a:off x="4119513" y="3007150"/>
            <a:ext cx="1875934" cy="509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Super keys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2052BA6D-950D-3CD0-4779-259FEDEB716F}"/>
              </a:ext>
            </a:extLst>
          </p:cNvPr>
          <p:cNvSpPr/>
          <p:nvPr/>
        </p:nvSpPr>
        <p:spPr>
          <a:xfrm>
            <a:off x="6096000" y="3101419"/>
            <a:ext cx="1583703" cy="4147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Foreign keys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A1404E65-0E0B-D119-F4CE-5F7586FF02FB}"/>
              </a:ext>
            </a:extLst>
          </p:cNvPr>
          <p:cNvSpPr/>
          <p:nvPr/>
        </p:nvSpPr>
        <p:spPr>
          <a:xfrm>
            <a:off x="7852528" y="2450968"/>
            <a:ext cx="1706251" cy="5090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Composite keys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728192A-49F1-C132-4C2D-61E7944174FD}"/>
              </a:ext>
            </a:extLst>
          </p:cNvPr>
          <p:cNvSpPr/>
          <p:nvPr/>
        </p:nvSpPr>
        <p:spPr>
          <a:xfrm>
            <a:off x="7673418" y="1800517"/>
            <a:ext cx="2064470" cy="433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Compound keys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8C300FAF-DBB7-661C-F4F1-E40AFFF3952B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2718062" y="1574276"/>
            <a:ext cx="807563" cy="348791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AE2C1435-E888-3C5B-72FB-B7BE4F5B173E}"/>
              </a:ext>
            </a:extLst>
          </p:cNvPr>
          <p:cNvCxnSpPr/>
          <p:nvPr/>
        </p:nvCxnSpPr>
        <p:spPr>
          <a:xfrm flipH="1">
            <a:off x="3299381" y="1748671"/>
            <a:ext cx="452487" cy="853127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689C123E-720D-853A-7199-54AC4DBF406C}"/>
              </a:ext>
            </a:extLst>
          </p:cNvPr>
          <p:cNvCxnSpPr/>
          <p:nvPr/>
        </p:nvCxnSpPr>
        <p:spPr>
          <a:xfrm>
            <a:off x="4930219" y="1800517"/>
            <a:ext cx="0" cy="1074658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CE5D9FCD-68A2-C593-8E3B-16296226F62C}"/>
              </a:ext>
            </a:extLst>
          </p:cNvPr>
          <p:cNvCxnSpPr/>
          <p:nvPr/>
        </p:nvCxnSpPr>
        <p:spPr>
          <a:xfrm>
            <a:off x="6174557" y="1748671"/>
            <a:ext cx="405352" cy="12584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A622B18A-0630-16DD-7345-DC87F9E7563A}"/>
              </a:ext>
            </a:extLst>
          </p:cNvPr>
          <p:cNvCxnSpPr>
            <a:endCxn id="9" idx="1"/>
          </p:cNvCxnSpPr>
          <p:nvPr/>
        </p:nvCxnSpPr>
        <p:spPr>
          <a:xfrm>
            <a:off x="6730738" y="1748671"/>
            <a:ext cx="1046375" cy="853127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5A8DE9E6-1202-00CB-C9C0-A8F8643C83D9}"/>
              </a:ext>
            </a:extLst>
          </p:cNvPr>
          <p:cNvCxnSpPr/>
          <p:nvPr/>
        </p:nvCxnSpPr>
        <p:spPr>
          <a:xfrm>
            <a:off x="7107810" y="1574276"/>
            <a:ext cx="490194" cy="34879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256416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F1A2A1C-4FDA-CB5F-DD5E-5D01E69E77D3}"/>
              </a:ext>
            </a:extLst>
          </p:cNvPr>
          <p:cNvSpPr/>
          <p:nvPr/>
        </p:nvSpPr>
        <p:spPr>
          <a:xfrm>
            <a:off x="716437" y="273377"/>
            <a:ext cx="10803118" cy="772998"/>
          </a:xfrm>
          <a:prstGeom prst="rect">
            <a:avLst/>
          </a:prstGeom>
          <a:noFill/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4000" dirty="0"/>
              <a:t>Types of DBMS language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EA01E288-7130-E79C-91E8-D003981F12A9}"/>
              </a:ext>
            </a:extLst>
          </p:cNvPr>
          <p:cNvCxnSpPr>
            <a:cxnSpLocks/>
          </p:cNvCxnSpPr>
          <p:nvPr/>
        </p:nvCxnSpPr>
        <p:spPr>
          <a:xfrm>
            <a:off x="876693" y="1046375"/>
            <a:ext cx="0" cy="301658"/>
          </a:xfrm>
          <a:prstGeom prst="straightConnector1">
            <a:avLst/>
          </a:prstGeom>
          <a:ln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D6A909A7-B3E0-91DC-9FA1-81571293FEEE}"/>
              </a:ext>
            </a:extLst>
          </p:cNvPr>
          <p:cNvCxnSpPr>
            <a:cxnSpLocks/>
          </p:cNvCxnSpPr>
          <p:nvPr/>
        </p:nvCxnSpPr>
        <p:spPr>
          <a:xfrm>
            <a:off x="3742441" y="1046375"/>
            <a:ext cx="0" cy="301658"/>
          </a:xfrm>
          <a:prstGeom prst="straightConnector1">
            <a:avLst/>
          </a:prstGeom>
          <a:ln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D99C9D06-D1B0-74C8-11E8-4DC399BA7EFC}"/>
              </a:ext>
            </a:extLst>
          </p:cNvPr>
          <p:cNvCxnSpPr>
            <a:cxnSpLocks/>
          </p:cNvCxnSpPr>
          <p:nvPr/>
        </p:nvCxnSpPr>
        <p:spPr>
          <a:xfrm>
            <a:off x="7230359" y="1046375"/>
            <a:ext cx="0" cy="301658"/>
          </a:xfrm>
          <a:prstGeom prst="straightConnector1">
            <a:avLst/>
          </a:prstGeom>
          <a:ln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6E9A40DE-3CAE-ECEE-6992-D932CAE46493}"/>
              </a:ext>
            </a:extLst>
          </p:cNvPr>
          <p:cNvCxnSpPr/>
          <p:nvPr/>
        </p:nvCxnSpPr>
        <p:spPr>
          <a:xfrm>
            <a:off x="10190375" y="1046375"/>
            <a:ext cx="0" cy="301658"/>
          </a:xfrm>
          <a:prstGeom prst="straightConnector1">
            <a:avLst/>
          </a:prstGeom>
          <a:ln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CF722357-07C1-2E59-0BD1-CC0414897C3F}"/>
              </a:ext>
            </a:extLst>
          </p:cNvPr>
          <p:cNvSpPr/>
          <p:nvPr/>
        </p:nvSpPr>
        <p:spPr>
          <a:xfrm>
            <a:off x="80134" y="1409306"/>
            <a:ext cx="1800519" cy="527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Data </a:t>
            </a:r>
            <a:r>
              <a:rPr lang="en-SG" dirty="0" err="1"/>
              <a:t>defination</a:t>
            </a:r>
            <a:endParaRPr lang="en-SG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2A779CDB-54AA-C5E6-5EA0-CF197EE54DF2}"/>
              </a:ext>
            </a:extLst>
          </p:cNvPr>
          <p:cNvSpPr/>
          <p:nvPr/>
        </p:nvSpPr>
        <p:spPr>
          <a:xfrm>
            <a:off x="2620660" y="1371597"/>
            <a:ext cx="2295422" cy="749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Data manipulation language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06CF031F-F926-C22B-0DFF-EC9F2AAB8ED8}"/>
              </a:ext>
            </a:extLst>
          </p:cNvPr>
          <p:cNvSpPr/>
          <p:nvPr/>
        </p:nvSpPr>
        <p:spPr>
          <a:xfrm>
            <a:off x="6334816" y="1371598"/>
            <a:ext cx="1932491" cy="650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Data control language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3B29431C-AF58-AB0B-BFB1-65EE82B879E6}"/>
              </a:ext>
            </a:extLst>
          </p:cNvPr>
          <p:cNvSpPr/>
          <p:nvPr/>
        </p:nvSpPr>
        <p:spPr>
          <a:xfrm>
            <a:off x="9304255" y="1348031"/>
            <a:ext cx="2011047" cy="749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Transaction control language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xmlns="" id="{1C0DEBA2-C2E2-77E2-A053-0BD32204D620}"/>
              </a:ext>
            </a:extLst>
          </p:cNvPr>
          <p:cNvCxnSpPr/>
          <p:nvPr/>
        </p:nvCxnSpPr>
        <p:spPr>
          <a:xfrm>
            <a:off x="273377" y="1937207"/>
            <a:ext cx="0" cy="2502818"/>
          </a:xfrm>
          <a:prstGeom prst="line">
            <a:avLst/>
          </a:prstGeom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98049DE1-92DB-3FDC-5705-9D2844132888}"/>
              </a:ext>
            </a:extLst>
          </p:cNvPr>
          <p:cNvCxnSpPr>
            <a:cxnSpLocks/>
          </p:cNvCxnSpPr>
          <p:nvPr/>
        </p:nvCxnSpPr>
        <p:spPr>
          <a:xfrm>
            <a:off x="2865748" y="2121030"/>
            <a:ext cx="0" cy="1960777"/>
          </a:xfrm>
          <a:prstGeom prst="line">
            <a:avLst/>
          </a:prstGeom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xmlns="" id="{D633796E-06F0-7402-215A-3D0445D8C1B2}"/>
              </a:ext>
            </a:extLst>
          </p:cNvPr>
          <p:cNvCxnSpPr>
            <a:cxnSpLocks/>
          </p:cNvCxnSpPr>
          <p:nvPr/>
        </p:nvCxnSpPr>
        <p:spPr>
          <a:xfrm>
            <a:off x="6617616" y="2022048"/>
            <a:ext cx="0" cy="1256123"/>
          </a:xfrm>
          <a:prstGeom prst="line">
            <a:avLst/>
          </a:prstGeom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xmlns="" id="{636D5B76-9F6D-9D96-C19E-0524C7686A88}"/>
              </a:ext>
            </a:extLst>
          </p:cNvPr>
          <p:cNvCxnSpPr>
            <a:cxnSpLocks/>
          </p:cNvCxnSpPr>
          <p:nvPr/>
        </p:nvCxnSpPr>
        <p:spPr>
          <a:xfrm>
            <a:off x="9511645" y="2121030"/>
            <a:ext cx="0" cy="1067586"/>
          </a:xfrm>
          <a:prstGeom prst="line">
            <a:avLst/>
          </a:prstGeom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A21A0B18-FDA3-7CCC-3281-E10D32CF852E}"/>
              </a:ext>
            </a:extLst>
          </p:cNvPr>
          <p:cNvCxnSpPr>
            <a:cxnSpLocks/>
          </p:cNvCxnSpPr>
          <p:nvPr/>
        </p:nvCxnSpPr>
        <p:spPr>
          <a:xfrm>
            <a:off x="301657" y="2290713"/>
            <a:ext cx="461913" cy="0"/>
          </a:xfrm>
          <a:prstGeom prst="straightConnector1">
            <a:avLst/>
          </a:prstGeom>
          <a:ln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1E775012-49FB-FE3D-08BB-0EDFE3357361}"/>
              </a:ext>
            </a:extLst>
          </p:cNvPr>
          <p:cNvCxnSpPr>
            <a:cxnSpLocks/>
          </p:cNvCxnSpPr>
          <p:nvPr/>
        </p:nvCxnSpPr>
        <p:spPr>
          <a:xfrm>
            <a:off x="301657" y="2908167"/>
            <a:ext cx="461913" cy="0"/>
          </a:xfrm>
          <a:prstGeom prst="straightConnector1">
            <a:avLst/>
          </a:prstGeom>
          <a:ln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36FAE3EA-F07A-6F71-3215-07C2FF7F0552}"/>
              </a:ext>
            </a:extLst>
          </p:cNvPr>
          <p:cNvCxnSpPr>
            <a:cxnSpLocks/>
          </p:cNvCxnSpPr>
          <p:nvPr/>
        </p:nvCxnSpPr>
        <p:spPr>
          <a:xfrm>
            <a:off x="292231" y="3770722"/>
            <a:ext cx="471339" cy="0"/>
          </a:xfrm>
          <a:prstGeom prst="straightConnector1">
            <a:avLst/>
          </a:prstGeom>
          <a:ln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xmlns="" id="{E94BB684-F226-61EE-BF17-97B003768C26}"/>
              </a:ext>
            </a:extLst>
          </p:cNvPr>
          <p:cNvCxnSpPr/>
          <p:nvPr/>
        </p:nvCxnSpPr>
        <p:spPr>
          <a:xfrm>
            <a:off x="301657" y="4440025"/>
            <a:ext cx="461913" cy="0"/>
          </a:xfrm>
          <a:prstGeom prst="straightConnector1">
            <a:avLst/>
          </a:prstGeom>
          <a:ln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xmlns="" id="{F86EBA0C-28A3-0BB2-63CA-F090F218A249}"/>
              </a:ext>
            </a:extLst>
          </p:cNvPr>
          <p:cNvCxnSpPr/>
          <p:nvPr/>
        </p:nvCxnSpPr>
        <p:spPr>
          <a:xfrm>
            <a:off x="2903455" y="2422689"/>
            <a:ext cx="527901" cy="0"/>
          </a:xfrm>
          <a:prstGeom prst="straightConnector1">
            <a:avLst/>
          </a:prstGeom>
          <a:ln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xmlns="" id="{DBEA79EC-1318-874A-E0AE-59EC32420524}"/>
              </a:ext>
            </a:extLst>
          </p:cNvPr>
          <p:cNvCxnSpPr>
            <a:cxnSpLocks/>
          </p:cNvCxnSpPr>
          <p:nvPr/>
        </p:nvCxnSpPr>
        <p:spPr>
          <a:xfrm>
            <a:off x="2894029" y="2879887"/>
            <a:ext cx="527901" cy="0"/>
          </a:xfrm>
          <a:prstGeom prst="straightConnector1">
            <a:avLst/>
          </a:prstGeom>
          <a:ln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xmlns="" id="{6B6C07A1-3455-362B-6DDF-17EC5408245C}"/>
              </a:ext>
            </a:extLst>
          </p:cNvPr>
          <p:cNvCxnSpPr/>
          <p:nvPr/>
        </p:nvCxnSpPr>
        <p:spPr>
          <a:xfrm>
            <a:off x="2894028" y="3429000"/>
            <a:ext cx="527901" cy="0"/>
          </a:xfrm>
          <a:prstGeom prst="straightConnector1">
            <a:avLst/>
          </a:prstGeom>
          <a:ln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xmlns="" id="{671B9562-B3FF-854C-75DB-4D26C915A689}"/>
              </a:ext>
            </a:extLst>
          </p:cNvPr>
          <p:cNvCxnSpPr/>
          <p:nvPr/>
        </p:nvCxnSpPr>
        <p:spPr>
          <a:xfrm>
            <a:off x="2865748" y="4081807"/>
            <a:ext cx="603316" cy="0"/>
          </a:xfrm>
          <a:prstGeom prst="straightConnector1">
            <a:avLst/>
          </a:prstGeom>
          <a:ln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xmlns="" id="{75D62143-010A-1401-08F1-3131C96FE372}"/>
              </a:ext>
            </a:extLst>
          </p:cNvPr>
          <p:cNvCxnSpPr>
            <a:cxnSpLocks/>
          </p:cNvCxnSpPr>
          <p:nvPr/>
        </p:nvCxnSpPr>
        <p:spPr>
          <a:xfrm>
            <a:off x="6617616" y="2654823"/>
            <a:ext cx="480768" cy="0"/>
          </a:xfrm>
          <a:prstGeom prst="straightConnector1">
            <a:avLst/>
          </a:prstGeom>
          <a:ln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xmlns="" id="{C3F31DB9-5273-053A-7723-86A3B37E2E24}"/>
              </a:ext>
            </a:extLst>
          </p:cNvPr>
          <p:cNvCxnSpPr>
            <a:cxnSpLocks/>
          </p:cNvCxnSpPr>
          <p:nvPr/>
        </p:nvCxnSpPr>
        <p:spPr>
          <a:xfrm>
            <a:off x="6617616" y="3278171"/>
            <a:ext cx="480768" cy="0"/>
          </a:xfrm>
          <a:prstGeom prst="straightConnector1">
            <a:avLst/>
          </a:prstGeom>
          <a:ln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xmlns="" id="{213EC4A5-5A7D-11ED-9CFA-7330B244CB14}"/>
              </a:ext>
            </a:extLst>
          </p:cNvPr>
          <p:cNvCxnSpPr>
            <a:cxnSpLocks/>
          </p:cNvCxnSpPr>
          <p:nvPr/>
        </p:nvCxnSpPr>
        <p:spPr>
          <a:xfrm>
            <a:off x="9511645" y="2422689"/>
            <a:ext cx="452487" cy="0"/>
          </a:xfrm>
          <a:prstGeom prst="straightConnector1">
            <a:avLst/>
          </a:prstGeom>
          <a:ln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xmlns="" id="{AC9B2C93-CE18-5B9A-BAC6-6F74AE882AF7}"/>
              </a:ext>
            </a:extLst>
          </p:cNvPr>
          <p:cNvCxnSpPr>
            <a:cxnSpLocks/>
          </p:cNvCxnSpPr>
          <p:nvPr/>
        </p:nvCxnSpPr>
        <p:spPr>
          <a:xfrm>
            <a:off x="9511645" y="3172119"/>
            <a:ext cx="452487" cy="0"/>
          </a:xfrm>
          <a:prstGeom prst="straightConnector1">
            <a:avLst/>
          </a:prstGeom>
          <a:ln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xmlns="" id="{E3406FEA-F0A7-0B0E-0C29-F486EB991317}"/>
              </a:ext>
            </a:extLst>
          </p:cNvPr>
          <p:cNvSpPr/>
          <p:nvPr/>
        </p:nvSpPr>
        <p:spPr>
          <a:xfrm>
            <a:off x="791849" y="2080984"/>
            <a:ext cx="1611981" cy="419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Create 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xmlns="" id="{0649817C-8FF7-CBF7-7A02-FAC4892D9AAA}"/>
              </a:ext>
            </a:extLst>
          </p:cNvPr>
          <p:cNvSpPr/>
          <p:nvPr/>
        </p:nvSpPr>
        <p:spPr>
          <a:xfrm>
            <a:off x="804450" y="2684858"/>
            <a:ext cx="1630836" cy="419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Drop 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xmlns="" id="{0C201D19-6FCD-F77E-0D57-E6A80D753B31}"/>
              </a:ext>
            </a:extLst>
          </p:cNvPr>
          <p:cNvSpPr/>
          <p:nvPr/>
        </p:nvSpPr>
        <p:spPr>
          <a:xfrm>
            <a:off x="782423" y="3535073"/>
            <a:ext cx="1652862" cy="419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 err="1"/>
              <a:t>Trnscate</a:t>
            </a:r>
            <a:r>
              <a:rPr lang="en-SG" dirty="0"/>
              <a:t> 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xmlns="" id="{54516721-E96E-2B98-91BB-E2F3FB1166CB}"/>
              </a:ext>
            </a:extLst>
          </p:cNvPr>
          <p:cNvSpPr/>
          <p:nvPr/>
        </p:nvSpPr>
        <p:spPr>
          <a:xfrm>
            <a:off x="804450" y="4210888"/>
            <a:ext cx="1630836" cy="3487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Rename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xmlns="" id="{0915FCF1-FB98-47BA-78D4-398FD4FE2CB3}"/>
              </a:ext>
            </a:extLst>
          </p:cNvPr>
          <p:cNvSpPr/>
          <p:nvPr/>
        </p:nvSpPr>
        <p:spPr>
          <a:xfrm>
            <a:off x="3469062" y="2254774"/>
            <a:ext cx="1875932" cy="364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select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xmlns="" id="{CAA8ABAB-DA5B-E2A4-3B55-EEC79515CD9B}"/>
              </a:ext>
            </a:extLst>
          </p:cNvPr>
          <p:cNvSpPr/>
          <p:nvPr/>
        </p:nvSpPr>
        <p:spPr>
          <a:xfrm>
            <a:off x="3431386" y="2717870"/>
            <a:ext cx="1941892" cy="364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insert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xmlns="" id="{6EC89E64-31C0-C4FC-943E-09DB3C91458C}"/>
              </a:ext>
            </a:extLst>
          </p:cNvPr>
          <p:cNvSpPr/>
          <p:nvPr/>
        </p:nvSpPr>
        <p:spPr>
          <a:xfrm>
            <a:off x="3440786" y="3268735"/>
            <a:ext cx="1932491" cy="346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 err="1"/>
              <a:t>delect</a:t>
            </a:r>
            <a:endParaRPr lang="en-SG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92729356-7D49-04AC-985D-6C6C13B2DD05}"/>
              </a:ext>
            </a:extLst>
          </p:cNvPr>
          <p:cNvSpPr/>
          <p:nvPr/>
        </p:nvSpPr>
        <p:spPr>
          <a:xfrm>
            <a:off x="3469062" y="3827281"/>
            <a:ext cx="1960775" cy="4436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update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xmlns="" id="{C0F3A6AB-97E7-4967-2592-7A6F6229D538}"/>
              </a:ext>
            </a:extLst>
          </p:cNvPr>
          <p:cNvSpPr/>
          <p:nvPr/>
        </p:nvSpPr>
        <p:spPr>
          <a:xfrm>
            <a:off x="7117242" y="2422689"/>
            <a:ext cx="1150065" cy="4854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revoke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xmlns="" id="{94544232-A89D-AE83-AA88-6A2FBEDF0417}"/>
              </a:ext>
            </a:extLst>
          </p:cNvPr>
          <p:cNvSpPr/>
          <p:nvPr/>
        </p:nvSpPr>
        <p:spPr>
          <a:xfrm>
            <a:off x="7117241" y="3025997"/>
            <a:ext cx="1150065" cy="485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grant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xmlns="" id="{334460B3-751F-BCCA-A25B-476A67F7FAFC}"/>
              </a:ext>
            </a:extLst>
          </p:cNvPr>
          <p:cNvSpPr/>
          <p:nvPr/>
        </p:nvSpPr>
        <p:spPr>
          <a:xfrm>
            <a:off x="9992412" y="2234737"/>
            <a:ext cx="1461155" cy="4571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rollback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xmlns="" id="{1B799075-F168-23CE-F31A-E2196E96C98D}"/>
              </a:ext>
            </a:extLst>
          </p:cNvPr>
          <p:cNvSpPr/>
          <p:nvPr/>
        </p:nvSpPr>
        <p:spPr>
          <a:xfrm>
            <a:off x="9992412" y="2962370"/>
            <a:ext cx="1743957" cy="4030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commitment</a:t>
            </a:r>
          </a:p>
        </p:txBody>
      </p:sp>
    </p:spTree>
    <p:extLst>
      <p:ext uri="{BB962C8B-B14F-4D97-AF65-F5344CB8AC3E}">
        <p14:creationId xmlns:p14="http://schemas.microsoft.com/office/powerpoint/2010/main" val="1296890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E232909-DBF5-1590-CCC8-47A79F830691}"/>
              </a:ext>
            </a:extLst>
          </p:cNvPr>
          <p:cNvSpPr/>
          <p:nvPr/>
        </p:nvSpPr>
        <p:spPr>
          <a:xfrm>
            <a:off x="3506772" y="2818614"/>
            <a:ext cx="3252247" cy="610386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Application of DBMS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xmlns="" id="{C5AA3963-D43D-19DA-3656-685C3A31B093}"/>
              </a:ext>
            </a:extLst>
          </p:cNvPr>
          <p:cNvSpPr/>
          <p:nvPr/>
        </p:nvSpPr>
        <p:spPr>
          <a:xfrm>
            <a:off x="1970202" y="952107"/>
            <a:ext cx="2055043" cy="8554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Railway reservation system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3F11AEC5-1134-C22A-11E8-3F4ACFE7545E}"/>
              </a:ext>
            </a:extLst>
          </p:cNvPr>
          <p:cNvSpPr/>
          <p:nvPr/>
        </p:nvSpPr>
        <p:spPr>
          <a:xfrm>
            <a:off x="4364610" y="815419"/>
            <a:ext cx="2469818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Library management system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1835EF34-72FF-E277-54CA-BD162F07CE84}"/>
              </a:ext>
            </a:extLst>
          </p:cNvPr>
          <p:cNvSpPr/>
          <p:nvPr/>
        </p:nvSpPr>
        <p:spPr>
          <a:xfrm>
            <a:off x="6966408" y="856072"/>
            <a:ext cx="1809947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 err="1"/>
              <a:t>bangking</a:t>
            </a:r>
            <a:endParaRPr lang="en-SG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DA2996CD-257C-553E-FEC6-5BC769CB2B1D}"/>
              </a:ext>
            </a:extLst>
          </p:cNvPr>
          <p:cNvSpPr/>
          <p:nvPr/>
        </p:nvSpPr>
        <p:spPr>
          <a:xfrm>
            <a:off x="8177740" y="2144061"/>
            <a:ext cx="1993777" cy="8484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Education sector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DE8CF47B-EFCE-0056-0708-85BB3D2E7F12}"/>
              </a:ext>
            </a:extLst>
          </p:cNvPr>
          <p:cNvSpPr/>
          <p:nvPr/>
        </p:nvSpPr>
        <p:spPr>
          <a:xfrm>
            <a:off x="8413423" y="3477312"/>
            <a:ext cx="2262433" cy="7647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Credit card transaction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F1B8C9EF-3198-D1D9-520B-DA294445DF61}"/>
              </a:ext>
            </a:extLst>
          </p:cNvPr>
          <p:cNvSpPr/>
          <p:nvPr/>
        </p:nvSpPr>
        <p:spPr>
          <a:xfrm>
            <a:off x="7093669" y="4798243"/>
            <a:ext cx="1993777" cy="6315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Social media site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785F029D-24EA-1B32-9F89-105CFCD8697B}"/>
              </a:ext>
            </a:extLst>
          </p:cNvPr>
          <p:cNvSpPr/>
          <p:nvPr/>
        </p:nvSpPr>
        <p:spPr>
          <a:xfrm>
            <a:off x="4883090" y="4999741"/>
            <a:ext cx="2163445" cy="7836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telecommunication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F0C580D9-7290-6ADF-23D5-5FCD93774151}"/>
              </a:ext>
            </a:extLst>
          </p:cNvPr>
          <p:cNvSpPr/>
          <p:nvPr/>
        </p:nvSpPr>
        <p:spPr>
          <a:xfrm>
            <a:off x="289881" y="2068889"/>
            <a:ext cx="1866508" cy="8554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manufacturing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F0BF1922-EF8F-6752-B2EC-BC3D602AECFF}"/>
              </a:ext>
            </a:extLst>
          </p:cNvPr>
          <p:cNvSpPr/>
          <p:nvPr/>
        </p:nvSpPr>
        <p:spPr>
          <a:xfrm>
            <a:off x="10603" y="3502766"/>
            <a:ext cx="2519317" cy="8984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Human resource management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22C37E55-EFFA-EC4D-6DF9-F61EBBE47712}"/>
              </a:ext>
            </a:extLst>
          </p:cNvPr>
          <p:cNvSpPr/>
          <p:nvPr/>
        </p:nvSpPr>
        <p:spPr>
          <a:xfrm>
            <a:off x="1731205" y="4685188"/>
            <a:ext cx="1743959" cy="6315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Online shopping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F8199DF3-12FE-37BE-3341-9DDCC193AD83}"/>
              </a:ext>
            </a:extLst>
          </p:cNvPr>
          <p:cNvSpPr/>
          <p:nvPr/>
        </p:nvSpPr>
        <p:spPr>
          <a:xfrm>
            <a:off x="3343194" y="4912021"/>
            <a:ext cx="1508288" cy="8095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finance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4B87C9A6-1F76-C338-3F16-114A134C6735}"/>
              </a:ext>
            </a:extLst>
          </p:cNvPr>
          <p:cNvCxnSpPr/>
          <p:nvPr/>
        </p:nvCxnSpPr>
        <p:spPr>
          <a:xfrm flipH="1" flipV="1">
            <a:off x="3393649" y="1866507"/>
            <a:ext cx="377073" cy="876693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18AFC0B4-AF47-EA68-4D89-AA907DE3564D}"/>
              </a:ext>
            </a:extLst>
          </p:cNvPr>
          <p:cNvCxnSpPr>
            <a:cxnSpLocks/>
          </p:cNvCxnSpPr>
          <p:nvPr/>
        </p:nvCxnSpPr>
        <p:spPr>
          <a:xfrm>
            <a:off x="5599522" y="1807589"/>
            <a:ext cx="0" cy="88158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7625B932-55C8-A485-43CE-061F0A9C4602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6759019" y="2703898"/>
            <a:ext cx="1418721" cy="41990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E12E1199-F470-23FA-FD0F-EF7018AB86CF}"/>
              </a:ext>
            </a:extLst>
          </p:cNvPr>
          <p:cNvCxnSpPr>
            <a:cxnSpLocks/>
          </p:cNvCxnSpPr>
          <p:nvPr/>
        </p:nvCxnSpPr>
        <p:spPr>
          <a:xfrm>
            <a:off x="6759019" y="3418395"/>
            <a:ext cx="1622796" cy="473523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9F37C35D-00CB-A86E-CE8B-C4CA3C477AC3}"/>
              </a:ext>
            </a:extLst>
          </p:cNvPr>
          <p:cNvCxnSpPr>
            <a:cxnSpLocks/>
          </p:cNvCxnSpPr>
          <p:nvPr/>
        </p:nvCxnSpPr>
        <p:spPr>
          <a:xfrm>
            <a:off x="6476215" y="3504414"/>
            <a:ext cx="886119" cy="1266727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097D0697-BCC4-473E-CEED-7EA489E90C53}"/>
              </a:ext>
            </a:extLst>
          </p:cNvPr>
          <p:cNvCxnSpPr>
            <a:cxnSpLocks/>
          </p:cNvCxnSpPr>
          <p:nvPr/>
        </p:nvCxnSpPr>
        <p:spPr>
          <a:xfrm>
            <a:off x="5599522" y="3536230"/>
            <a:ext cx="0" cy="143640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FCAF1A79-D6BC-070C-8C3A-482033C3F17A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4097338" y="3389592"/>
            <a:ext cx="162611" cy="152242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1639D9EA-D374-F6B4-4216-6FCB510541E1}"/>
              </a:ext>
            </a:extLst>
          </p:cNvPr>
          <p:cNvCxnSpPr>
            <a:cxnSpLocks/>
          </p:cNvCxnSpPr>
          <p:nvPr/>
        </p:nvCxnSpPr>
        <p:spPr>
          <a:xfrm flipH="1">
            <a:off x="2943521" y="3453745"/>
            <a:ext cx="787138" cy="1231443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2729CE7C-CA62-6734-4111-D361568D5A9F}"/>
              </a:ext>
            </a:extLst>
          </p:cNvPr>
          <p:cNvCxnSpPr>
            <a:cxnSpLocks/>
          </p:cNvCxnSpPr>
          <p:nvPr/>
        </p:nvCxnSpPr>
        <p:spPr>
          <a:xfrm flipV="1">
            <a:off x="2487291" y="3326483"/>
            <a:ext cx="987873" cy="45337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xmlns="" id="{C38D4492-B6B7-2D6E-8BFC-1B1A25520944}"/>
              </a:ext>
            </a:extLst>
          </p:cNvPr>
          <p:cNvCxnSpPr>
            <a:cxnSpLocks/>
          </p:cNvCxnSpPr>
          <p:nvPr/>
        </p:nvCxnSpPr>
        <p:spPr>
          <a:xfrm>
            <a:off x="2156389" y="2639209"/>
            <a:ext cx="1290284" cy="30902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3D4EEED9-9C52-809E-AC22-3DBB6FF578CE}"/>
              </a:ext>
            </a:extLst>
          </p:cNvPr>
          <p:cNvCxnSpPr>
            <a:cxnSpLocks/>
          </p:cNvCxnSpPr>
          <p:nvPr/>
        </p:nvCxnSpPr>
        <p:spPr>
          <a:xfrm flipH="1">
            <a:off x="6711885" y="1770472"/>
            <a:ext cx="650449" cy="99983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488902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0BE3888-180C-CCD9-54D9-311DF9F31BBF}"/>
              </a:ext>
            </a:extLst>
          </p:cNvPr>
          <p:cNvSpPr/>
          <p:nvPr/>
        </p:nvSpPr>
        <p:spPr>
          <a:xfrm>
            <a:off x="754144" y="405353"/>
            <a:ext cx="3073138" cy="5090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7E637A6-3277-4F1C-DBAE-9D3362BC0B0D}"/>
              </a:ext>
            </a:extLst>
          </p:cNvPr>
          <p:cNvSpPr/>
          <p:nvPr/>
        </p:nvSpPr>
        <p:spPr>
          <a:xfrm>
            <a:off x="565607" y="405353"/>
            <a:ext cx="4091233" cy="5090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800" dirty="0" err="1"/>
              <a:t>Advantaes</a:t>
            </a:r>
            <a:r>
              <a:rPr lang="en-SG" sz="2800" dirty="0"/>
              <a:t> of DBMS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7EEB810-6938-F7A4-075D-4FDD13ADA71B}"/>
              </a:ext>
            </a:extLst>
          </p:cNvPr>
          <p:cNvSpPr/>
          <p:nvPr/>
        </p:nvSpPr>
        <p:spPr>
          <a:xfrm>
            <a:off x="593887" y="914400"/>
            <a:ext cx="8125905" cy="4128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SG" sz="3200" dirty="0"/>
              <a:t>Reducing data </a:t>
            </a:r>
            <a:r>
              <a:rPr lang="en-SG" sz="3200" dirty="0" err="1"/>
              <a:t>reduncing</a:t>
            </a:r>
            <a:endParaRPr lang="en-SG" sz="3200" dirty="0"/>
          </a:p>
          <a:p>
            <a:pPr marL="342900" indent="-342900">
              <a:buFont typeface="+mj-lt"/>
              <a:buAutoNum type="arabicPeriod"/>
            </a:pPr>
            <a:r>
              <a:rPr lang="en-SG" sz="3200" dirty="0"/>
              <a:t>Sharing of data</a:t>
            </a:r>
          </a:p>
          <a:p>
            <a:pPr marL="342900" indent="-342900">
              <a:buFont typeface="+mj-lt"/>
              <a:buAutoNum type="arabicPeriod"/>
            </a:pPr>
            <a:r>
              <a:rPr lang="en-SG" sz="3200" dirty="0"/>
              <a:t>Data integrating</a:t>
            </a:r>
          </a:p>
          <a:p>
            <a:pPr marL="342900" indent="-342900">
              <a:buFont typeface="+mj-lt"/>
              <a:buAutoNum type="arabicPeriod"/>
            </a:pPr>
            <a:r>
              <a:rPr lang="en-SG" sz="3200" dirty="0"/>
              <a:t>Data security</a:t>
            </a:r>
          </a:p>
          <a:p>
            <a:pPr marL="342900" indent="-342900">
              <a:buFont typeface="+mj-lt"/>
              <a:buAutoNum type="arabicPeriod"/>
            </a:pPr>
            <a:r>
              <a:rPr lang="en-SG" sz="3200" dirty="0"/>
              <a:t>Privacy</a:t>
            </a:r>
          </a:p>
          <a:p>
            <a:pPr marL="342900" indent="-342900">
              <a:buFont typeface="+mj-lt"/>
              <a:buAutoNum type="arabicPeriod"/>
            </a:pPr>
            <a:r>
              <a:rPr lang="en-SG" sz="3200" dirty="0"/>
              <a:t>Backup and recovery</a:t>
            </a:r>
          </a:p>
          <a:p>
            <a:pPr marL="342900" indent="-342900">
              <a:buFont typeface="+mj-lt"/>
              <a:buAutoNum type="arabicPeriod"/>
            </a:pPr>
            <a:r>
              <a:rPr lang="en-SG" sz="3200" dirty="0"/>
              <a:t>Data consistency</a:t>
            </a:r>
          </a:p>
        </p:txBody>
      </p:sp>
    </p:spTree>
    <p:extLst>
      <p:ext uri="{BB962C8B-B14F-4D97-AF65-F5344CB8AC3E}">
        <p14:creationId xmlns:p14="http://schemas.microsoft.com/office/powerpoint/2010/main" val="876244785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D6A3B8F-3594-3AB8-1E32-B28975AA2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225" y="1232555"/>
            <a:ext cx="8534400" cy="3615267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SG" sz="2400" dirty="0">
                <a:solidFill>
                  <a:schemeClr val="tx1">
                    <a:lumMod val="95000"/>
                  </a:schemeClr>
                </a:solidFill>
              </a:rPr>
              <a:t>Complexity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2400" dirty="0">
                <a:solidFill>
                  <a:schemeClr val="tx1">
                    <a:lumMod val="95000"/>
                  </a:schemeClr>
                </a:solidFill>
              </a:rPr>
              <a:t>Size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2400" dirty="0">
                <a:solidFill>
                  <a:schemeClr val="tx1">
                    <a:lumMod val="95000"/>
                  </a:schemeClr>
                </a:solidFill>
              </a:rPr>
              <a:t>Cost of DBMS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2400" dirty="0">
                <a:solidFill>
                  <a:schemeClr val="tx1">
                    <a:lumMod val="95000"/>
                  </a:schemeClr>
                </a:solidFill>
              </a:rPr>
              <a:t>Additional hardware costs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2400" dirty="0">
                <a:solidFill>
                  <a:schemeClr val="tx1">
                    <a:lumMod val="95000"/>
                  </a:schemeClr>
                </a:solidFill>
              </a:rPr>
              <a:t>Cost of conversation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2400" dirty="0">
                <a:solidFill>
                  <a:schemeClr val="tx1">
                    <a:lumMod val="95000"/>
                  </a:schemeClr>
                </a:solidFill>
              </a:rPr>
              <a:t>Performance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2400" dirty="0">
                <a:solidFill>
                  <a:schemeClr val="tx1">
                    <a:lumMod val="95000"/>
                  </a:schemeClr>
                </a:solidFill>
              </a:rPr>
              <a:t>Higher impact of a </a:t>
            </a:r>
            <a:r>
              <a:rPr lang="en-SG" sz="2400" dirty="0" err="1">
                <a:solidFill>
                  <a:schemeClr val="tx1">
                    <a:lumMod val="95000"/>
                  </a:schemeClr>
                </a:solidFill>
              </a:rPr>
              <a:t>failour</a:t>
            </a:r>
            <a:endParaRPr lang="en-SG" sz="2400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SG" sz="24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8ED9402-E99C-5F1D-39D2-763156816E44}"/>
              </a:ext>
            </a:extLst>
          </p:cNvPr>
          <p:cNvSpPr/>
          <p:nvPr/>
        </p:nvSpPr>
        <p:spPr>
          <a:xfrm>
            <a:off x="838986" y="395926"/>
            <a:ext cx="5382705" cy="8366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0CD09FED-5757-7411-ED86-ED84EF6BE780}"/>
              </a:ext>
            </a:extLst>
          </p:cNvPr>
          <p:cNvSpPr/>
          <p:nvPr/>
        </p:nvSpPr>
        <p:spPr>
          <a:xfrm>
            <a:off x="618225" y="301657"/>
            <a:ext cx="4967925" cy="8366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2800" dirty="0" err="1"/>
              <a:t>Diaadvantages</a:t>
            </a:r>
            <a:r>
              <a:rPr lang="en-SG" sz="2800" dirty="0"/>
              <a:t> of DBMS</a:t>
            </a:r>
          </a:p>
        </p:txBody>
      </p:sp>
    </p:spTree>
    <p:extLst>
      <p:ext uri="{BB962C8B-B14F-4D97-AF65-F5344CB8AC3E}">
        <p14:creationId xmlns:p14="http://schemas.microsoft.com/office/powerpoint/2010/main" val="300990641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5CB258F-B7FF-1349-F091-3A38FD5D2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SG" sz="6600" dirty="0">
                <a:solidFill>
                  <a:schemeClr val="tx1">
                    <a:lumMod val="9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9458355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118</TotalTime>
  <Words>268</Words>
  <Application>Microsoft Office PowerPoint</Application>
  <PresentationFormat>Custom</PresentationFormat>
  <Paragraphs>87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tojibur rahman</dc:creator>
  <cp:lastModifiedBy>FTC</cp:lastModifiedBy>
  <cp:revision>8</cp:revision>
  <dcterms:created xsi:type="dcterms:W3CDTF">2023-05-14T14:06:54Z</dcterms:created>
  <dcterms:modified xsi:type="dcterms:W3CDTF">2025-01-18T01:51:23Z</dcterms:modified>
</cp:coreProperties>
</file>